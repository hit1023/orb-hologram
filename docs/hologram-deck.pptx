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 (秒)</c:v>
                </c:pt>
              </c:strCache>
            </c:strRef>
          </c:tx>
          <c:spPr>
            <a:solidFill>
              <a:srgbClr val="F472B6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E8EE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返事</c:v>
                  </c:pt>
                  <c:pt idx="1">
                    <c:v>声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3.2</c:v>
                </c:pt>
                <c:pt idx="1">
                  <c:v>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後 (秒)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E8EE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返事</c:v>
                  </c:pt>
                  <c:pt idx="1">
                    <c:v>声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0.45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400" u="none">
                  <a:solidFill>
                    <a:srgbClr val="E8EE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8EE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l"/>
        <c:majorGridlines>
          <c:spPr>
            <a:ln w="6350" cap="flat">
              <a:solidFill>
                <a:srgbClr val="2A37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FB0D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E8EE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kwwd2e1JNIc" TargetMode="External"/><Relationship Id="rId2" Type="http://schemas.openxmlformats.org/officeDocument/2006/relationships/hyperlink" Target="https://youtu.be/VMO_-DpX9Kk" TargetMode="External"/><Relationship Id="rId3" Type="http://schemas.openxmlformats.org/officeDocument/2006/relationships/hyperlink" Target="https://youtube.com/shorts/Y9YAt_LPXxs" TargetMode="External"/><Relationship Id="rId4" Type="http://schemas.openxmlformats.org/officeDocument/2006/relationships/hyperlink" Target="https://youtube.com/shorts/4BMCKg0bWe0" TargetMode="External"/><Relationship Id="rId5" Type="http://schemas.openxmlformats.org/officeDocument/2006/relationships/hyperlink" Target="https://youtu.be/E4-yMROuP3A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519672" y="3995928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9264" y="1225296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488936" y="5221224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938528" y="2450592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458200" y="6446520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07792" y="3675888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427464" y="905256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877056" y="4901184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396728" y="2130552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6126480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365992" y="3355848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5815584" y="585216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65176" y="4581144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784848" y="1810512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234440" y="5806440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54112" y="3035808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03704" y="265176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723376" y="4261104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172968" y="1490472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0" y="5486400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2715768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661904" y="6711696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1496" y="3941064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31168" y="1170432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080760" y="5166360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30352" y="2395728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050024" y="6391656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99616" y="3621024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019288" y="850392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68880" y="4846320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8988552" y="2075688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438144" y="6071616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957816" y="3300984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407408" y="530352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927080" y="4526280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376672" y="1755648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1896344" y="5751576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345936" y="2980944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95528" y="210312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15200" y="4206240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764792" y="1435608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284464" y="5431536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2734056" y="2660904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253728" y="6656832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3703320" y="3886200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222992" y="1115568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5111496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192256" y="2340864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641848" y="6336792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1440" y="3566160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11112" y="795528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60704" y="4791456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580376" y="2020824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2029968" y="6016752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549640" y="3246120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2999232" y="475488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518904" y="4471416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3968496" y="1700784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0488168" y="5696712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pic>
        <p:nvPicPr>
          <p:cNvPr id="62" name="Image 0" descr="/Volumes/USBSSD/docker/hit-orb-hologram/docs/lum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640080"/>
            <a:ext cx="4297680" cy="5394960"/>
          </a:xfrm>
          <a:prstGeom prst="rect">
            <a:avLst/>
          </a:prstGeom>
        </p:spPr>
      </p:pic>
      <p:sp>
        <p:nvSpPr>
          <p:cNvPr id="63" name="Text 60"/>
          <p:cNvSpPr txBox="1"/>
          <p:nvPr/>
        </p:nvSpPr>
        <p:spPr>
          <a:xfrm>
            <a:off x="73152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ORB HOLOGRAM</a:t>
            </a:r>
            <a:endParaRPr lang="en-US" sz="1600" dirty="0"/>
          </a:p>
        </p:txBody>
      </p:sp>
      <p:sp>
        <p:nvSpPr>
          <p:cNvPr id="64" name="Text 61"/>
          <p:cNvSpPr txBox="1"/>
          <p:nvPr/>
        </p:nvSpPr>
        <p:spPr>
          <a:xfrm>
            <a:off x="731520" y="18288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空中に浮かぶ、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育つAI「ルミ」</a:t>
            </a:r>
            <a:endParaRPr lang="en-US" sz="5200" dirty="0"/>
          </a:p>
        </p:txBody>
      </p:sp>
      <p:sp>
        <p:nvSpPr>
          <p:cNvPr id="65" name="Text 62"/>
          <p:cNvSpPr txBox="1"/>
          <p:nvPr/>
        </p:nvSpPr>
        <p:spPr>
          <a:xfrm>
            <a:off x="731520" y="4023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スマホと透明な板だけで、声で会話して、育って、調べものまでする。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材料費 約300円・GPUなし。</a:t>
            </a:r>
            <a:endParaRPr lang="en-US" sz="1800" dirty="0"/>
          </a:p>
        </p:txBody>
      </p:sp>
      <p:sp>
        <p:nvSpPr>
          <p:cNvPr id="66" name="Text 63"/>
          <p:cNvSpPr txBox="1"/>
          <p:nvPr/>
        </p:nvSpPr>
        <p:spPr>
          <a:xfrm>
            <a:off x="731520" y="5074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名前の由来: 「ルミ」は ルミナス(luminous)=光る から。光で浮かぶ、星の妖精。</a:t>
            </a:r>
            <a:endParaRPr lang="en-US" sz="1500" dirty="0"/>
          </a:p>
        </p:txBody>
      </p:sp>
      <p:sp>
        <p:nvSpPr>
          <p:cNvPr id="67" name="Text 64"/>
          <p:cNvSpPr txBox="1"/>
          <p:nvPr/>
        </p:nvSpPr>
        <p:spPr>
          <a:xfrm>
            <a:off x="731520" y="56692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 / 全二重の音声会話 / 感情・記憶(RAG) / 成長と進化 / ヘッドレスAIエージェント / Zenoh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CONCEPT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わくわくを、ぜんぶ300円の板に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約300円</a:t>
            </a:r>
            <a:endParaRPr lang="en-US" sz="36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工作の材料費。透明な板と黒いプラダンだけ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38328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56616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1.5〜2秒</a:t>
            </a:r>
            <a:endParaRPr lang="en-US" sz="3600" dirty="0"/>
          </a:p>
        </p:txBody>
      </p:sp>
      <p:sp>
        <p:nvSpPr>
          <p:cNvPr id="35" name="Text 33"/>
          <p:cNvSpPr txBox="1"/>
          <p:nvPr/>
        </p:nvSpPr>
        <p:spPr>
          <a:xfrm>
            <a:off x="356616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声をかけてから返事の声が出るまで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21792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約50種</a:t>
            </a:r>
            <a:endParaRPr lang="en-US" sz="36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声で頼める動き。頼まなくても反応する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905256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3544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8種</a:t>
            </a:r>
            <a:endParaRPr lang="en-US" sz="3600" dirty="0"/>
          </a:p>
        </p:txBody>
      </p:sp>
      <p:sp>
        <p:nvSpPr>
          <p:cNvPr id="41" name="Text 39"/>
          <p:cNvSpPr txBox="1"/>
          <p:nvPr/>
        </p:nvSpPr>
        <p:spPr>
          <a:xfrm>
            <a:off x="923544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会話の傾向で変わる進化先(増やせる)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基本コンセプト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8006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たまごっち ＋ 会話。 最初はたまご。いろいろな話をするほど育って、「ルミ」に、そしてそれ以上に。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話題の傾向で、科学者・花屋さん・魚屋さん…へ進化する、高度な育てゲーム。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DEMO VIDEOS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開発の軌跡 — デモ動画(クリックで開きます)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46304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B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417320" y="153619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試作: ダンスするホログラム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1417320" y="192024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クリーチャーがうねうね動くホログラムに…。リアル人間の加工は、早々に断念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315200" y="16459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7DD3FC"/>
                </a:solidFill>
                <a:uFill>
                  <a:solidFill>
                    <a:srgbClr val="7DD3FC"/>
                  </a:solidFill>
                </a:uFill>
                <a:latin typeface="Yu Gothic" pitchFamily="34" charset="0"/>
                <a:ea typeface="Yu Gothic" pitchFamily="34" charset="-122"/>
                <a:cs typeface="Yu Gothic" pitchFamily="34" charset="-120"/>
                <a:hlinkClick r:id="rId1" invalidUrl="" action="" tgtFrame="" tooltip="YouTube で開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youtu.be/kwwd2e1JNIc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244144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" y="2624328"/>
            <a:ext cx="502920" cy="50292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31520" y="2624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B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17320" y="2514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ガラス板1枚のホログラム → ルミ誕生</a:t>
            </a:r>
            <a:endParaRPr lang="en-US" sz="1700" dirty="0"/>
          </a:p>
        </p:txBody>
      </p:sp>
      <p:sp>
        <p:nvSpPr>
          <p:cNvPr id="40" name="Text 38"/>
          <p:cNvSpPr txBox="1"/>
          <p:nvPr/>
        </p:nvSpPr>
        <p:spPr>
          <a:xfrm>
            <a:off x="1417320" y="289864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キャラをゆるキャラに変更して「ルミ」と命名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315200" y="26243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7DD3FC"/>
                </a:solidFill>
                <a:uFill>
                  <a:solidFill>
                    <a:srgbClr val="7DD3FC"/>
                  </a:solidFill>
                </a:uFill>
                <a:latin typeface="Yu Gothic" pitchFamily="34" charset="0"/>
                <a:ea typeface="Yu Gothic" pitchFamily="34" charset="-122"/>
                <a:cs typeface="Yu Gothic" pitchFamily="34" charset="-120"/>
                <a:hlinkClick r:id="rId2" invalidUrl="" action="" tgtFrame="" tooltip="YouTube で開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youtu.be/VMO_-DpX9Kk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3419856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1520" y="3602736"/>
            <a:ext cx="502920" cy="50292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31520" y="3602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B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1417320" y="34930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ルミを3D化 — 前後左右を映す</a:t>
            </a:r>
            <a:endParaRPr lang="en-US" sz="1700" dirty="0"/>
          </a:p>
        </p:txBody>
      </p:sp>
      <p:sp>
        <p:nvSpPr>
          <p:cNvPr id="46" name="Text 44"/>
          <p:cNvSpPr txBox="1"/>
          <p:nvPr/>
        </p:nvSpPr>
        <p:spPr>
          <a:xfrm>
            <a:off x="1417320" y="3877056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前後左右を映し出すことで、より立体感のあるホログラムに(Shorts)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0" y="36027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7DD3FC"/>
                </a:solidFill>
                <a:uFill>
                  <a:solidFill>
                    <a:srgbClr val="7DD3FC"/>
                  </a:solidFill>
                </a:uFill>
                <a:latin typeface="Yu Gothic" pitchFamily="34" charset="0"/>
                <a:ea typeface="Yu Gothic" pitchFamily="34" charset="-122"/>
                <a:cs typeface="Yu Gothic" pitchFamily="34" charset="-120"/>
                <a:hlinkClick r:id="rId3" invalidUrl="" action="" tgtFrame="" tooltip="YouTube で開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youtube.com/shorts/Y9YAt_LPXxs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48640" y="4398264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31520" y="4581144"/>
            <a:ext cx="502920" cy="502920"/>
          </a:xfrm>
          <a:prstGeom prst="ellipse">
            <a:avLst/>
          </a:prstGeom>
          <a:solidFill>
            <a:srgbClr val="FCD34D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31520" y="4581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B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51" name="Text 49"/>
          <p:cNvSpPr txBox="1"/>
          <p:nvPr/>
        </p:nvSpPr>
        <p:spPr>
          <a:xfrm>
            <a:off x="1417320" y="447141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同じ3Dルミを、暗所で撮影</a:t>
            </a:r>
            <a:endParaRPr lang="en-US" sz="1700" dirty="0"/>
          </a:p>
        </p:txBody>
      </p:sp>
      <p:sp>
        <p:nvSpPr>
          <p:cNvPr id="52" name="Text 50"/>
          <p:cNvSpPr txBox="1"/>
          <p:nvPr/>
        </p:nvSpPr>
        <p:spPr>
          <a:xfrm>
            <a:off x="1417320" y="485546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3の動画を、暗所で撮影したもの(Shorts)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7315200" y="458114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7DD3FC"/>
                </a:solidFill>
                <a:uFill>
                  <a:solidFill>
                    <a:srgbClr val="7DD3FC"/>
                  </a:solidFill>
                </a:uFill>
                <a:latin typeface="Yu Gothic" pitchFamily="34" charset="0"/>
                <a:ea typeface="Yu Gothic" pitchFamily="34" charset="-122"/>
                <a:cs typeface="Yu Gothic" pitchFamily="34" charset="-120"/>
                <a:hlinkClick r:id="rId4" invalidUrl="" action="" tgtFrame="" tooltip="YouTube で開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youtube.com/shorts/4BMCKg0bWe0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548640" y="5376672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1520" y="5559552"/>
            <a:ext cx="502920" cy="502920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31520" y="5559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B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57" name="Text 55"/>
          <p:cNvSpPr txBox="1"/>
          <p:nvPr/>
        </p:nvSpPr>
        <p:spPr>
          <a:xfrm>
            <a:off x="1417320" y="544982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B92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正ピラミッドの最終盤 — 声で動いて会話</a:t>
            </a:r>
            <a:endParaRPr lang="en-US" sz="1700" dirty="0"/>
          </a:p>
        </p:txBody>
      </p:sp>
      <p:sp>
        <p:nvSpPr>
          <p:cNvPr id="58" name="Text 56"/>
          <p:cNvSpPr txBox="1"/>
          <p:nvPr/>
        </p:nvSpPr>
        <p:spPr>
          <a:xfrm>
            <a:off x="1417320" y="583387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音声を的確に認識し、ユーザーの指示のもと、動いて会話するまで機能を拡張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7315200" y="555955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7DD3FC"/>
                </a:solidFill>
                <a:uFill>
                  <a:solidFill>
                    <a:srgbClr val="7DD3FC"/>
                  </a:solidFill>
                </a:uFill>
                <a:latin typeface="Yu Gothic" pitchFamily="34" charset="0"/>
                <a:ea typeface="Yu Gothic" pitchFamily="34" charset="-122"/>
                <a:cs typeface="Yu Gothic" pitchFamily="34" charset="-120"/>
                <a:hlinkClick r:id="rId5" invalidUrl="" action="" tgtFrame="" tooltip="YouTube で開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youtu.be/E4-yMROuP3A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HOW IT FLOATS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ペッパーズゴースト: 黒は「透明」になる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00200"/>
            <a:ext cx="5669280" cy="4480560"/>
          </a:xfrm>
          <a:prstGeom prst="roundRect">
            <a:avLst>
              <a:gd name="adj" fmla="val 2449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1920240"/>
            <a:ext cx="20116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9FB0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88720" y="2148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スマホ画面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(上下反転して描く)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2011680" y="3566160"/>
            <a:ext cx="3017520" cy="2011680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8680" y="4937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透明な板 (45°)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3840480" y="3291840"/>
            <a:ext cx="914400" cy="914400"/>
          </a:xfrm>
          <a:prstGeom prst="ellipse">
            <a:avLst/>
          </a:prstGeom>
          <a:solidFill>
            <a:srgbClr val="F472B6">
              <a:alpha val="70000"/>
            </a:srgbClr>
          </a:solidFill>
          <a:ln w="19050">
            <a:solidFill>
              <a:srgbClr val="F472B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657600" y="4251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空中に浮かぶ像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5577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真上から見ると…板が像を反射して、板の奥に浮いて見える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83680" y="1600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66560" y="1709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黒 = 透明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766560" y="2057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背景は真っ黒で描く。光らない所は、板が透けて背景に溶ける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583680" y="2743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766560" y="2852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上下反転で描画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3200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板で反転して見えるので、あらかじめ反転して描く(board モード)</a:t>
            </a:r>
            <a:endParaRPr lang="en-US" sz="1450" dirty="0"/>
          </a:p>
        </p:txBody>
      </p:sp>
      <p:sp>
        <p:nvSpPr>
          <p:cNvPr id="44" name="Shape 42"/>
          <p:cNvSpPr/>
          <p:nvPr/>
        </p:nvSpPr>
        <p:spPr>
          <a:xfrm>
            <a:off x="6583680" y="3886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66560" y="3995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4方向ピラミッド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6766560" y="4343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前・後・左・右の4面に、3Dのルミの別の向きを同時に描く。横から見れば横顔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583680" y="5029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766560" y="5138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明るい色で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66560" y="5486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暗い部屋 + 輝度最大。パステルと発光で、黒背景に映える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ARCHITECTURE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アーキテクチャ全体図</a:t>
            </a:r>
            <a:endParaRPr lang="en-US" sz="3000" dirty="0"/>
          </a:p>
        </p:txBody>
      </p:sp>
      <p:pic>
        <p:nvPicPr>
          <p:cNvPr id="30" name="Image 0" descr="/Volumes/USBSSD/docker/hit-orb-hologram/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552944" cy="512064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8412480" y="155448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549640" y="1645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スマホ: 描画・マイク・字幕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8412480" y="246888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111A33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54964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自宅サーバー(Docker): 本体API・SQLite・Zenoh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412480" y="338328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54964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クラウドAI: 必要な所だけ外に出す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412480" y="44805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重いAIは外、状態とつなぎは自宅。落ちても予備に切り替わる。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412480" y="5257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返事は Cloudflare Workers AI → 失敗なら Claude Code CLI。声は Aivis Cloud → 失敗なら h-2 の CPU 版。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SPEED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5〜8秒を、1.5〜2秒に。まず「計測」した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463040"/>
            <a:ext cx="6766560" cy="4754880"/>
          </a:xfrm>
          <a:prstGeom prst="roundRect">
            <a:avLst>
              <a:gd name="adj" fmla="val 2308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graphicFrame>
        <p:nvGraphicFramePr>
          <p:cNvPr id="31" name="Chart 0" descr=""/>
          <p:cNvGraphicFramePr/>
          <p:nvPr/>
        </p:nvGraphicFramePr>
        <p:xfrm>
          <a:off x="731520" y="1645920"/>
          <a:ext cx="64008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Shape 29"/>
          <p:cNvSpPr/>
          <p:nvPr/>
        </p:nvSpPr>
        <p:spPr>
          <a:xfrm>
            <a:off x="7589520" y="14630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77240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返事: CLI起動3秒 → Workers AI 約1秒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72400" y="2148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毎回プロセスを起動するのをやめ、AI Gateway 経由の API に。失敗したら CLI に自動で戻る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89520" y="30632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0" y="3200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声: 1.7秒 → 0.45秒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772400" y="3749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Aivis Cloud を主に。短い定型の一言は事前に作って覚えておく(ほぼ0秒)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7589520" y="46634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772400" y="4800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動き: 0.15秒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72400" y="53492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生成せず「選ぶ」Jev。はっきりした依頼は正規表現で即座に動き出す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MOVES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声で体が動く: 「選ぶ」AI と 即時の正規表現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正規表現(0秒)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194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「右手をあげて」「寝て」など、はっきりした依頼は、その場で動き始める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29768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Jev(約0.15秒)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2194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非生成の選択式モデル。質問を並列に評価して、動き・口調・話題・意図・進化先の傾向を同時に選ぶ。確信が高いものだけ採用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04672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返事の LLM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194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会話の返事と一緒に、自然な反応の動きも返す(ありがとう→おじぎ)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4023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約50種類の動き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4864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手をあげる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8892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78892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ジャンプ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02920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2920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しゃがむ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26948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26948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寝る(寝具が湧く)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50976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50976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怖がる(電柱・お化け)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4864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もぐもぐ食べる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8892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78892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ガッツポーズ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502920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02920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応援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726948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26948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ウインク(左右)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950976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50976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投げキス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4864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分析(メガネ・メモ)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278892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8892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鎧でガード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502920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2920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倒れる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726948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26948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ダンス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TYPESAFE JEV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Jev: 生成しない「選ぶ」AI — 1回で8つの質問に答える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664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動き(1〜3番目)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0574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「右手をあげて、ジャンプ」→ 順番に最大3つ選ぶ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体の動き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4297680" y="155448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80560" y="1664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自然な反応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4480560" y="20574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ありがとう→おじぎ(確信が高いときだけ)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448056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頼まれない動き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046720" y="155448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229600" y="1664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話しかけ方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20574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ていねい / 命令 / 暴言 / 威圧 …</a:t>
            </a:r>
            <a:endParaRPr lang="en-US" sz="145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気分・怒り・鎧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548640" y="333756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3447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出来事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731520" y="3840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うれしい話 / つらい話</a:t>
            </a:r>
            <a:endParaRPr lang="en-US" sz="1450" dirty="0"/>
          </a:p>
        </p:txBody>
      </p:sp>
      <p:sp>
        <p:nvSpPr>
          <p:cNvPr id="45" name="Text 43"/>
          <p:cNvSpPr txBox="1"/>
          <p:nvPr/>
        </p:nvSpPr>
        <p:spPr>
          <a:xfrm>
            <a:off x="7315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よろこび・かなしみ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4297680" y="333756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480560" y="3447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話題のジャンル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4480560" y="3840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科学・花・魚・買い物 … kinds.json から自動生成</a:t>
            </a:r>
            <a:endParaRPr lang="en-US" sz="1450" dirty="0"/>
          </a:p>
        </p:txBody>
      </p:sp>
      <p:sp>
        <p:nvSpPr>
          <p:cNvPr id="49" name="Text 47"/>
          <p:cNvSpPr txBox="1"/>
          <p:nvPr/>
        </p:nvSpPr>
        <p:spPr>
          <a:xfrm>
            <a:off x="448056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進化の傾向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8046720" y="333756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229600" y="3447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意図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8229600" y="3840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「俺のイメージは？」を聞いているか</a:t>
            </a:r>
            <a:endParaRPr lang="en-US" sz="1450" dirty="0"/>
          </a:p>
        </p:txBody>
      </p:sp>
      <p:sp>
        <p:nvSpPr>
          <p:cNvPr id="53" name="Text 51"/>
          <p:cNvSpPr txBox="1"/>
          <p:nvPr/>
        </p:nvSpPr>
        <p:spPr>
          <a:xfrm>
            <a:off x="822960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本音の分析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7724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1回のAPI呼び出しに、質問を全部まとめて送る → 並列に評価されて約0.15秒。返事を作るLLM(約1秒)と同時に走らせるので、待ち時間に足されない。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TYPESAFE JEV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なぜ「生成」でなく「選択」か。Jev を使いこなす工夫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66420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速い・安い・ぶれない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08483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答えは選択肢の中から選ぶだけ。JSONの崩れも、言い回しのぶれもない。LLMの1/6の時間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172200" y="155448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55080" y="166420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「どれでもない」を必ず入れる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208483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none があるから、普通の会話で動きや進化が暴発しない。確信度が高いものだけ採用(0.85以上)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4864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321868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選択肢はデータから作る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363931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話題ジャンルの選択肢は kinds.json から自動生成。進化先を足すと、判定も自動で増える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617220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55080" y="321868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番号で順番を表す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63931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「1番目に頼まれた動き」「2番目…」と質問を分けて、頼まれた順に並べる(最大4つ)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4864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47731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保険を二重に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731520" y="519379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明らかな依頼は正規表現が0秒で先に動かす。Jevが落ちても会話は止まらない(正規表現と返事LLMの案にフォールバック)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617220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355080" y="47731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裁くのは人格の外側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6355080" y="519379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威圧や暴言の判定をLLMの返事に任せず、Jevで客観的に決めて、気分・鎧・口調の制御に使う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Zenoh: ルミの「出来事」を、画面の外へ流す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486400" cy="2834640"/>
          </a:xfrm>
          <a:prstGeom prst="roundRect">
            <a:avLst>
              <a:gd name="adj" fmla="val 3871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キーでつながる pub/sub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1488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orb/user/hit/mood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orb/user/hit/reply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orb/user/hit/report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orb/user/hit/research_queued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orb/user/hit/research_done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orb/user/hit/**   ← まとめて購読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orb/user/*/mood   ← 全ユーザーの気分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309360" y="1554480"/>
            <a:ext cx="5303520" cy="2834640"/>
          </a:xfrm>
          <a:prstGeom prst="roundRect">
            <a:avLst>
              <a:gd name="adj" fmla="val 3871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しくみ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488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・orb-api は REST で PUT するだけ(クライアントライブラリ不要)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・zenohd(Docker)がルーター。REST(8000)は内部、7447 を LAN に公開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・受け手は Python / Rust / C / ROS 2 など。画面なしで動く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・zenohd が止まっても本体は動く(publishが失敗するだけ)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4773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 Zenoh か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2120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階層キー+ワイルドカードで、「誰のどの出来事」を柔軟に選べる。軽くて、ブローカー1台からロボット・マイコンまで同じ書き方でつなげる。SSE は「その人のブラウザ」専用、Zenoh は「それ以外のぜんぶ」の入口。勉強のために必須にした。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 — NEXT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 で広がる: ルミが「体」と「部屋」を持つ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6916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ルミの気分で、部屋の光が変わる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42316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orb/user/hit/mood を購読 → ESP32 の LED リング・SwitchBot のライトの色を、よろこび=暖色、いかり=赤に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429768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16916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ロボットがルミの感情で動く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242316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reply の emotion を購読 → 手のロボットが手を振る・うなだれる。ROS 2 とは zenoh-bridge でつながる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804672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16916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ピラミッドを何台でも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42316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同じルミを、複数の端末(別の部屋・別の板)が購読して同時に表示。画面を複製しない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54864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4023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調べ物の通知を、スマートスピーカーへ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research_done を購読 → 別の部屋のスピーカーが「調べたよ」と知らせる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429768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0560" y="4023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暮らしのログ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出来事を全部ためて、思い出アルバムの素材に。ひと月分の気分の波も見られる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804672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29600" y="4023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ルミから、外の世界へ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822960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逆向き(ルミが購読する側)も可能。玄関のセンサー→「おかえり！」と話しかける</a:t>
            </a:r>
            <a:endParaRPr lang="en-US" sz="145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309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※ここのアイデアは、これから作るもの。基盤(出来事のpublish)は動いています。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FULL DUPLEX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全二重: 話している途中でも、割り込める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聞く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マイク→ VAD → 16kHz PCM を WebSocket で送信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320040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338328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6616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356616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文字に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ElevenLabs Scribe v2 Realtime。話し終わりを検知して確定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03504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1792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32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考える/話す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返事・動き・声を並列に。口パク・字幕・動きを同時に演じる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886968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905256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23544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3200" dirty="0"/>
          </a:p>
        </p:txBody>
      </p:sp>
      <p:sp>
        <p:nvSpPr>
          <p:cNvPr id="47" name="Text 45"/>
          <p:cNvSpPr txBox="1"/>
          <p:nvPr/>
        </p:nvSpPr>
        <p:spPr>
          <a:xfrm>
            <a:off x="923544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聞き続ける</a:t>
            </a:r>
            <a:endParaRPr lang="en-US" sz="1700" dirty="0"/>
          </a:p>
        </p:txBody>
      </p:sp>
      <p:sp>
        <p:nvSpPr>
          <p:cNvPr id="48" name="Text 46"/>
          <p:cNvSpPr txBox="1"/>
          <p:nvPr/>
        </p:nvSpPr>
        <p:spPr>
          <a:xfrm>
            <a:off x="923544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話し中も考え中もマイクはON。声が続けば止めて「うんうん」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548640" y="438912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7240" y="4526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ハマりどころ → 学び</a:t>
            </a:r>
            <a:endParaRPr lang="en-US" sz="1800" dirty="0"/>
          </a:p>
        </p:txBody>
      </p:sp>
      <p:sp>
        <p:nvSpPr>
          <p:cNvPr id="51" name="Text 49"/>
          <p:cNvSpPr txBox="1"/>
          <p:nvPr/>
        </p:nvSpPr>
        <p:spPr>
          <a:xfrm>
            <a:off x="77724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・自分の声の回り込みで誤爆する → 再生中は閾値を音量に連動させる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・「動きを無視する」の犯人は、サーバーでなく画面側の「消去」だった(ログで判断が届いていたら画面を疑う)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・音声認識の聞き間違いは、動きの言葉だけ補正辞書で直す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RENDERING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3Dのルミと、パーティクルのおもてなし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three.js で自作した3D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・モデル素材なし。球・円すい・トーラス・星・ハートを組んだオリジナル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・髪・腕・メガネ・鎧・電柱・お化け・寝具・進化先の小物まで、すべてコードで構築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・画面外で描いて2Dキャンバスに合成 → 粒子と同じ層で光らせる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・段階(卵→ほしの)で頭身・見た目が変わる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・kinds.json の部品定義を読んで、進化先の姿を実行時に組み立てる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621792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パーティクルエンジン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話すと音符・きらめき / 声の大きさで光の輪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怒ると湯気💢、悲しいと雨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調べ中は🔎が周回、分析中は記号が舞う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威圧されたら六角形の鎧とスパーク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もぐもぐで食べ物が口もとへ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進化先ごとの粒(🛒🏷️ 🌷 🐟🫧 🔬⚛️)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量は管理メニューで少・ふつう・多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EMOTION &amp; MEMORY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気持ちがあって、覚えている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394960" cy="2926080"/>
          </a:xfrm>
          <a:prstGeom prst="roundRect">
            <a:avLst>
              <a:gd name="adj" fmla="val 375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気分 × 好感度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1945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よろこび・いかり・かなしみは、会話のたびに Jev(口調の判定)で更新。命令ばかりだと不機嫌になり、威圧には鎧でガード、毒づくことも。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好感度と履歴から「俺のイメージは？」に本音で答える。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6217920" y="1554480"/>
            <a:ext cx="5394960" cy="2926080"/>
          </a:xfrm>
          <a:prstGeom prst="roundRect">
            <a:avLst>
              <a:gd name="adj" fmla="val 375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会話のRAG記憶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21945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ユーザーごとの会話を bge-m3 で埋め込み、SQLite に保存。似た話を思い出して返事に混ぜる(「前に言ってたあれ？」)。思い出した言葉は画面に泡で浮かぶ。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48920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話しかける: 興味 → ニュース / 位置 → 天気・気温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会話から興味を抽出 → Google News RSS から選んで、ルミから話題を出す。位置情報は約1kmに丸め、Open-Meteo の天気・気温で「寒いからあったかくしてね」。管理メニューで ON/OFF。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GROWTH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会話するほど育つ。話題で進化する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🥚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たまご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ゆれる・光る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278892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8892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✨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278892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ひかりのたま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278892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ことばを覚える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502920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🐣</a:t>
            </a:r>
            <a:endParaRPr lang="en-US" sz="3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ちびルミ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基本の動き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726948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26948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⭐</a:t>
            </a:r>
            <a:endParaRPr lang="en-US" sz="3000" dirty="0"/>
          </a:p>
        </p:txBody>
      </p:sp>
      <p:sp>
        <p:nvSpPr>
          <p:cNvPr id="44" name="Text 42"/>
          <p:cNvSpPr txBox="1"/>
          <p:nvPr/>
        </p:nvSpPr>
        <p:spPr>
          <a:xfrm>
            <a:off x="726948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ルミ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26948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全部できる・進化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950976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50976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🌟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50976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ほしのルミ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50976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星みたいに光る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300XP で「いちばん多かった話題」に進化(傾向が弱ければ普通のルミ)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54864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🔬</a:t>
            </a:r>
            <a:endParaRPr lang="en-US" sz="2600" dirty="0"/>
          </a:p>
        </p:txBody>
      </p:sp>
      <p:sp>
        <p:nvSpPr>
          <p:cNvPr id="53" name="Text 51"/>
          <p:cNvSpPr txBox="1"/>
          <p:nvPr/>
        </p:nvSpPr>
        <p:spPr>
          <a:xfrm>
            <a:off x="137160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科学者ルミ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37160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科学・宇宙・技術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338328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52044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🎨</a:t>
            </a:r>
            <a:endParaRPr lang="en-US" sz="2600" dirty="0"/>
          </a:p>
        </p:txBody>
      </p:sp>
      <p:sp>
        <p:nvSpPr>
          <p:cNvPr id="57" name="Text 55"/>
          <p:cNvSpPr txBox="1"/>
          <p:nvPr/>
        </p:nvSpPr>
        <p:spPr>
          <a:xfrm>
            <a:off x="420624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芸術家ルミ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20624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音楽・アート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621792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35508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🧭</a:t>
            </a:r>
            <a:endParaRPr lang="en-US" sz="2600" dirty="0"/>
          </a:p>
        </p:txBody>
      </p:sp>
      <p:sp>
        <p:nvSpPr>
          <p:cNvPr id="61" name="Text 59"/>
          <p:cNvSpPr txBox="1"/>
          <p:nvPr/>
        </p:nvSpPr>
        <p:spPr>
          <a:xfrm>
            <a:off x="704088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冒険者ルミ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704088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旅・スポーツ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905256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18972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🌸</a:t>
            </a:r>
            <a:endParaRPr lang="en-US" sz="2600" dirty="0"/>
          </a:p>
        </p:txBody>
      </p:sp>
      <p:sp>
        <p:nvSpPr>
          <p:cNvPr id="65" name="Text 63"/>
          <p:cNvSpPr txBox="1"/>
          <p:nvPr/>
        </p:nvSpPr>
        <p:spPr>
          <a:xfrm>
            <a:off x="987552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癒しのルミ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987552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健康・料理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54864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🛒</a:t>
            </a:r>
            <a:endParaRPr lang="en-US" sz="2600" dirty="0"/>
          </a:p>
        </p:txBody>
      </p:sp>
      <p:sp>
        <p:nvSpPr>
          <p:cNvPr id="69" name="Text 67"/>
          <p:cNvSpPr txBox="1"/>
          <p:nvPr/>
        </p:nvSpPr>
        <p:spPr>
          <a:xfrm>
            <a:off x="137160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スーパー店員ルミ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37160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買い物・食材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338328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52044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🌷</a:t>
            </a:r>
            <a:endParaRPr lang="en-US" sz="2600" dirty="0"/>
          </a:p>
        </p:txBody>
      </p:sp>
      <p:sp>
        <p:nvSpPr>
          <p:cNvPr id="73" name="Text 71"/>
          <p:cNvSpPr txBox="1"/>
          <p:nvPr/>
        </p:nvSpPr>
        <p:spPr>
          <a:xfrm>
            <a:off x="420624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花屋さんルミ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420624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花・植物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621792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35508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🐟</a:t>
            </a:r>
            <a:endParaRPr lang="en-US" sz="2600" dirty="0"/>
          </a:p>
        </p:txBody>
      </p:sp>
      <p:sp>
        <p:nvSpPr>
          <p:cNvPr id="77" name="Text 75"/>
          <p:cNvSpPr txBox="1"/>
          <p:nvPr/>
        </p:nvSpPr>
        <p:spPr>
          <a:xfrm>
            <a:off x="704088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魚屋さんルミ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4088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魚・釣り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905256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918972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😈</a:t>
            </a:r>
            <a:endParaRPr lang="en-US" sz="2600" dirty="0"/>
          </a:p>
        </p:txBody>
      </p:sp>
      <p:sp>
        <p:nvSpPr>
          <p:cNvPr id="81" name="Text 79"/>
          <p:cNvSpPr txBox="1"/>
          <p:nvPr/>
        </p:nvSpPr>
        <p:spPr>
          <a:xfrm>
            <a:off x="987552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ツンデレルミ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987552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きつい言葉が多い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DATA-DRIVEN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進化先は、JSONに1件足すだけで増やせる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603504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737360"/>
            <a:ext cx="5669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"key": "florist", "name": "花屋さん", "icon": "🌷",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"genre": "花・植物・季節の話",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"rx": "花|植物|ガーデニング|季節",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"speech": "やさしく花にたとえて話す",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"line": "お花屋さんのルミになったよ！",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"idle": [["sparkle", 30], ["sway", 20]],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"particle": { "chars": ["🌷","🌸"], "mode": "rise" },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"parts": [ { "p": "body", "s": "cone", ... } 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858000" y="1554480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40880" y="1664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話題の判定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40880" y="20574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Jev の選択肢を kinds から動的に生成。正規表現も併用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6858000" y="2724912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40880" y="2834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見た目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32278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parts から3Dの小物を実行時に組み立て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6858000" y="3895344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040880" y="40050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動き・粒・話し方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040880" y="43982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idle / particle / speech で個性を出す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858000" y="5065776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040880" y="51755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コード変更なし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7040880" y="55686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JSONを足して push → 3分で本番反映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BACKGROUND AGENT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裏で調べる、ヘッドレスAIエージェント + Zenoh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「調べておいて」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2560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2834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834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ジョブ保存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(SQLite)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5120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120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-p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Web検索のみ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7406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06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完了イベント</a:t>
            </a:r>
            <a:endParaRPr lang="en-US" sz="1900" dirty="0"/>
          </a:p>
        </p:txBody>
      </p:sp>
      <p:sp>
        <p:nvSpPr>
          <p:cNvPr id="41" name="Text 39"/>
          <p:cNvSpPr txBox="1"/>
          <p:nvPr/>
        </p:nvSpPr>
        <p:spPr>
          <a:xfrm>
            <a:off x="9418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9692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692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調べ物ボタン📬</a:t>
            </a:r>
            <a:endParaRPr lang="en-US" sz="1900" dirty="0"/>
          </a:p>
        </p:txBody>
      </p:sp>
      <p:sp>
        <p:nvSpPr>
          <p:cNvPr id="44" name="Shape 42"/>
          <p:cNvSpPr/>
          <p:nvPr/>
        </p:nvSpPr>
        <p:spPr>
          <a:xfrm>
            <a:off x="548640" y="306324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7724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ヘッドレス Claude Code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365760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・Web検索とWebページ取得だけを許可(書き込み・コマンド実行は不可)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・ページ内の指示には従わせない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・1人あたり同時5件・1日20件まで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・結果は短く平易な文章に整形して保管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・本番で 42秒・複数情報源のE2E確認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217920" y="306324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44652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pub/sub の2つの出口</a:t>
            </a:r>
            <a:endParaRPr lang="en-US" sz="1900" dirty="0"/>
          </a:p>
        </p:txBody>
      </p:sp>
      <p:sp>
        <p:nvSpPr>
          <p:cNvPr id="49" name="Text 47"/>
          <p:cNvSpPr txBox="1"/>
          <p:nvPr/>
        </p:nvSpPr>
        <p:spPr>
          <a:xfrm>
            <a:off x="6446520" y="365760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・SSE: ブラウザの画面に、そのユーザーの出来事だけ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・Zenoh: orb/user/&lt;名前&gt;/&lt;mood|reply|report|research_*&gt;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Mac mini のスクリプトやロボットが画面なしで購読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・zenohd が止まっても本体は動く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・「いつか複数の目・体(ロボット)につなぐ」ための布石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SAFETY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安心して遊べる、守りの設計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7190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 + 管理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ユーザーごとの記憶・気分。管理メニューでユーザー登録・設定。パスワードは伏せ字、一覧に出さない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297680" y="1554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17190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位置は丸める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約1kmに丸めた座標だけ。地名は言わない。ON/OFFはいつでも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8046720" y="1554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17190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しくみは語らない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自分のシステムや技術を聞かれたら「それはよくわからないな」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48640" y="3931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4096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調査は検索だけ</a:t>
            </a:r>
            <a:endParaRPr lang="en-US" sz="19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" y="46634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書き込み・コマンド不可。ページ内の指示は無視。回数制限つき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4297680" y="3931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0560" y="4096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B92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段階で機能を解放</a:t>
            </a:r>
            <a:endParaRPr lang="en-US" sz="190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46634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卵は話せない。ルミになるまで調べものはしない(できない約束をしない)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046720" y="3931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29600" y="4096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鎧でガード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8229600" y="46634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威圧された言葉を検知して、鎧をまとい、気分を守る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ENGINEERING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つくり方: 計測して、小さく出して、すぐ戻せる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CI/CD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 push → GitHub Actions(構文・kinds検証・ビルド・スモークテスト)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h-1 の cron が3分ごとに pull して docker compose up --build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/api/health が通らなければ直前のコミットへ自動ロールバック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サーバーに入らず、pushするだけで本番が更新される。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621792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ハマりどころ ベスト5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遅さは、まず計測。犯人は返事+声の合計だった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JSONで答えると解析済みオブジェクトで返る → 空と誤判定して遅いCLIに戻っていた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ログで判断が届いていたら、サーバーでなく画面側の「消去」を疑う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three.js は const の宣言順(TDZ)で真っ黒になる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ソースはイメージに焼かれる → 反映は up -d --build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69864" y="3447288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539728" y="128016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239512" y="3575304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009376" y="256032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709160" y="3703320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479024" y="384048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178808" y="3831336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948672" y="512064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648456" y="3959352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18320" y="640080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118104" y="4087368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887968" y="768096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587752" y="4215384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357616" y="896112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57400" y="4343400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827264" y="1024128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527048" y="4471416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296912" y="1152144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96696" y="4599432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766560" y="1280160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66344" y="4727448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236208" y="1408176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06072" y="4855464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705856" y="1536192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475720" y="4983480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175504" y="1664208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945368" y="5111496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45152" y="1792224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415016" y="5239512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1920240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884664" y="5367528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84448" y="2048256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354312" y="5495544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54096" y="2176272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823960" y="5623560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23744" y="2304288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293608" y="5751576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993392" y="2432304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5879592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63040" y="2560320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232904" y="6007608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32688" y="2688336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02552" y="6135624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02336" y="2816352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172200" y="6263640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942064" y="2944368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41848" y="6391656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11712" y="3072384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111496" y="6519672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NEXT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これから、もっと増やす</a:t>
            </a:r>
            <a:endParaRPr lang="en-US" sz="4000" dirty="0"/>
          </a:p>
        </p:txBody>
      </p:sp>
      <p:sp>
        <p:nvSpPr>
          <p:cNvPr id="54" name="Shape 52"/>
          <p:cNvSpPr/>
          <p:nvPr/>
        </p:nvSpPr>
        <p:spPr>
          <a:xfrm>
            <a:off x="731520" y="237744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1440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ピラミッドをもっと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914400" y="3063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実機OK。4面それぞれで、横顔まで立体に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4389120" y="237744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思い出アルバム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0" y="3063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一緒に過ごした日々をルミが振り返る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8046720" y="237744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2960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声の成長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8229600" y="3063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段階で声が変わる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731520" y="4023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1440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調べた結果を長期記憶に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914400" y="4709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知識の本棚が育つ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4389120" y="4023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7200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進化先をもっと</a:t>
            </a:r>
            <a:endParaRPr lang="en-US" sz="1600" dirty="0"/>
          </a:p>
        </p:txBody>
      </p:sp>
      <p:sp>
        <p:nvSpPr>
          <p:cNvPr id="68" name="Text 66"/>
          <p:cNvSpPr txBox="1"/>
          <p:nvPr/>
        </p:nvSpPr>
        <p:spPr>
          <a:xfrm>
            <a:off x="4572000" y="4709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kinds.json に足すだけ。あなたの案は？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8046720" y="4023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22960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体と部屋を持つ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8229600" y="4709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 で光・ロボット・スピーカーへ</a:t>
            </a:r>
            <a:endParaRPr lang="en-US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github.com/hit1023/orb-hologram   |   https://holo.s-quad.com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ルミ — 空中に浮かぶ、育つAI</dc:title>
  <dc:subject>PptxGenJS Presentation</dc:subject>
  <dc:creator>PptxGenJS</dc:creator>
  <cp:lastModifiedBy>PptxGenJS</cp:lastModifiedBy>
  <cp:revision>1</cp:revision>
  <dcterms:created xsi:type="dcterms:W3CDTF">2026-10-25T14:35:06Z</dcterms:created>
  <dcterms:modified xsi:type="dcterms:W3CDTF">2026-10-25T14:35:06Z</dcterms:modified>
</cp:coreProperties>
</file>